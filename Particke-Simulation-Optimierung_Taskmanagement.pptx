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2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885308" y="2024506"/>
            <a:ext cx="522440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4800" dirty="0" err="1"/>
              <a:t>Simulationsstudie</a:t>
            </a:r>
            <a:endParaRPr lang="de-DE" sz="4800" dirty="0"/>
          </a:p>
          <a:p>
            <a:pPr algn="ctr">
              <a:defRPr sz="4400" b="1">
                <a:solidFill>
                  <a:srgbClr val="FFFFFF"/>
                </a:solidFill>
              </a:defRPr>
            </a:pPr>
            <a:endParaRPr sz="4800" dirty="0"/>
          </a:p>
          <a:p>
            <a:pPr algn="ctr"/>
            <a:r>
              <a:rPr sz="2000" dirty="0" err="1">
                <a:solidFill>
                  <a:schemeClr val="bg1"/>
                </a:solidFill>
              </a:rPr>
              <a:t>Optimierung</a:t>
            </a:r>
            <a:r>
              <a:rPr sz="2000" dirty="0">
                <a:solidFill>
                  <a:schemeClr val="bg1"/>
                </a:solidFill>
              </a:rPr>
              <a:t> des Task-Managements</a:t>
            </a:r>
            <a:r>
              <a:rPr lang="de-DE" sz="2000" dirty="0">
                <a:solidFill>
                  <a:schemeClr val="bg1"/>
                </a:solidFill>
              </a:rPr>
              <a:t> in einem Software-Entwicklungsteam in der Infrastruktur</a:t>
            </a:r>
            <a:endParaRPr sz="20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8C"/>
                </a:solidFill>
              </a:defRPr>
            </a:pPr>
            <a:r>
              <a:rPr dirty="0" err="1"/>
              <a:t>Ausgangssituation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422092"/>
            <a:ext cx="7772400" cy="4426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Hintergrundinformation:</a:t>
            </a:r>
            <a:br>
              <a:rPr lang="de-DE" sz="2000" dirty="0"/>
            </a:br>
            <a:r>
              <a:rPr sz="2000" dirty="0"/>
              <a:t>Software-</a:t>
            </a:r>
            <a:r>
              <a:rPr lang="de-DE" sz="2000" dirty="0"/>
              <a:t>Entwicklungs-</a:t>
            </a:r>
            <a:r>
              <a:rPr sz="2000" dirty="0"/>
              <a:t>Team </a:t>
            </a:r>
            <a:r>
              <a:rPr lang="de-DE" sz="2000" dirty="0"/>
              <a:t>in Infrastruktur </a:t>
            </a:r>
            <a:r>
              <a:rPr sz="2000" dirty="0"/>
              <a:t>für </a:t>
            </a:r>
            <a:r>
              <a:rPr sz="2000" dirty="0" err="1"/>
              <a:t>Steuergeräteentwicklung</a:t>
            </a:r>
            <a:br>
              <a:rPr lang="de-DE" sz="2000" dirty="0"/>
            </a:br>
            <a:r>
              <a:rPr sz="2000" dirty="0" err="1"/>
              <a:t>Kontinuierlicher</a:t>
            </a:r>
            <a:r>
              <a:rPr lang="de-DE" sz="2000" dirty="0"/>
              <a:t> </a:t>
            </a:r>
            <a:r>
              <a:rPr sz="2000" dirty="0" err="1"/>
              <a:t>Eingang</a:t>
            </a:r>
            <a:r>
              <a:rPr lang="de-DE" sz="2000" dirty="0"/>
              <a:t> von Tasks</a:t>
            </a:r>
            <a:r>
              <a:rPr sz="2000" dirty="0"/>
              <a:t> </a:t>
            </a:r>
            <a:r>
              <a:rPr sz="2000" dirty="0" err="1"/>
              <a:t>aus</a:t>
            </a:r>
            <a:r>
              <a:rPr sz="2000" dirty="0"/>
              <a:t> </a:t>
            </a:r>
            <a:r>
              <a:rPr sz="2000" dirty="0" err="1"/>
              <a:t>verschiedenen</a:t>
            </a:r>
            <a:r>
              <a:rPr sz="2000" dirty="0"/>
              <a:t> </a:t>
            </a:r>
            <a:br>
              <a:rPr lang="de-DE" sz="2000" dirty="0"/>
            </a:br>
            <a:r>
              <a:rPr sz="2000" dirty="0" err="1"/>
              <a:t>Fachbereichen</a:t>
            </a:r>
            <a:endParaRPr lang="de-DE" sz="2000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 sz="2000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sz="2000" b="1" dirty="0"/>
              <a:t>Problem: </a:t>
            </a:r>
            <a:br>
              <a:rPr lang="de-DE" sz="2000" b="1" dirty="0"/>
            </a:br>
            <a:r>
              <a:rPr sz="2000" dirty="0" err="1"/>
              <a:t>Ankunftsrate</a:t>
            </a:r>
            <a:r>
              <a:rPr lang="de-DE" sz="2000" dirty="0"/>
              <a:t> </a:t>
            </a:r>
            <a:r>
              <a:rPr lang="el-GR" sz="2000" dirty="0"/>
              <a:t>α</a:t>
            </a:r>
            <a:r>
              <a:rPr lang="de-DE" sz="2000" dirty="0"/>
              <a:t> </a:t>
            </a:r>
            <a:r>
              <a:rPr sz="2000" dirty="0"/>
              <a:t> </a:t>
            </a:r>
            <a:r>
              <a:rPr lang="de-DE" sz="2000" dirty="0"/>
              <a:t>ist deutlich größer als die</a:t>
            </a:r>
            <a:r>
              <a:rPr sz="2000" dirty="0"/>
              <a:t> Be</a:t>
            </a:r>
            <a:r>
              <a:rPr lang="de-DE" sz="2000" dirty="0" err="1"/>
              <a:t>dienrate</a:t>
            </a:r>
            <a:r>
              <a:rPr sz="2000" dirty="0"/>
              <a:t> </a:t>
            </a:r>
            <a:r>
              <a:rPr lang="el-GR" sz="2000" dirty="0"/>
              <a:t>β</a:t>
            </a:r>
            <a:endParaRPr sz="2000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endParaRPr lang="de-DE" sz="2000" b="1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sz="2000" b="1" dirty="0" err="1"/>
              <a:t>Herausforderung</a:t>
            </a:r>
            <a:r>
              <a:rPr sz="2000" dirty="0"/>
              <a:t>: </a:t>
            </a:r>
            <a:br>
              <a:rPr lang="de-DE" sz="2000" dirty="0"/>
            </a:br>
            <a:r>
              <a:rPr sz="2000" dirty="0"/>
              <a:t>Wie </a:t>
            </a:r>
            <a:r>
              <a:rPr sz="2000" dirty="0" err="1"/>
              <a:t>organisieren</a:t>
            </a:r>
            <a:r>
              <a:rPr sz="2000" dirty="0"/>
              <a:t> </a:t>
            </a:r>
            <a:r>
              <a:rPr sz="2000" dirty="0" err="1"/>
              <a:t>wir</a:t>
            </a:r>
            <a:r>
              <a:rPr sz="2000" dirty="0"/>
              <a:t> die </a:t>
            </a:r>
            <a:r>
              <a:rPr sz="2000" dirty="0" err="1"/>
              <a:t>Abarbeitung</a:t>
            </a:r>
            <a:r>
              <a:rPr sz="2000" dirty="0"/>
              <a:t> </a:t>
            </a:r>
            <a:r>
              <a:rPr lang="de-DE" sz="2000" dirty="0"/>
              <a:t>optimal</a:t>
            </a:r>
            <a:r>
              <a:rPr sz="2000" dirty="0"/>
              <a:t>?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/>
              <a:t>→ </a:t>
            </a:r>
            <a:r>
              <a:rPr lang="de-DE" sz="2000" dirty="0"/>
              <a:t>Simulation mit Hilfe eines </a:t>
            </a:r>
            <a:r>
              <a:rPr sz="2000" dirty="0" err="1"/>
              <a:t>klassische</a:t>
            </a:r>
            <a:r>
              <a:rPr lang="de-DE" sz="2000" dirty="0"/>
              <a:t>n</a:t>
            </a:r>
            <a:r>
              <a:rPr sz="2000" dirty="0"/>
              <a:t> </a:t>
            </a:r>
            <a:r>
              <a:rPr sz="2000" dirty="0" err="1"/>
              <a:t>Warteschlangen</a:t>
            </a:r>
            <a:r>
              <a:rPr lang="de-DE" sz="2000" dirty="0" err="1"/>
              <a:t>modells</a:t>
            </a:r>
            <a:endParaRPr sz="20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1BA3CDE-5BD9-6C87-68B8-B1CBD388BFFB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  <p:pic>
        <p:nvPicPr>
          <p:cNvPr id="8" name="Content Placeholder 4" descr="Aufnahme eines Geschäftsmannes, der sich an einer Menge Krypto-Ballons auf einem Diagramm vor weißem Hintergrund festhält">
            <a:extLst>
              <a:ext uri="{FF2B5EF4-FFF2-40B4-BE49-F238E27FC236}">
                <a16:creationId xmlns:a16="http://schemas.microsoft.com/office/drawing/2014/main" id="{0A98D260-7124-458F-BBFD-E57EA476DFE1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rcRect l="41719" r="3999" b="-1"/>
          <a:stretch>
            <a:fillRect/>
          </a:stretch>
        </p:blipFill>
        <p:spPr>
          <a:xfrm>
            <a:off x="6730566" y="1512263"/>
            <a:ext cx="1956234" cy="309031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8C"/>
                </a:solidFill>
              </a:defRPr>
            </a:pPr>
            <a:r>
              <a:t>Zwei organisatorische Strategien im Vergleich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02336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88C"/>
                </a:solidFill>
              </a:defRPr>
            </a:pPr>
            <a:r>
              <a:rPr sz="2400" dirty="0" err="1"/>
              <a:t>Szenario</a:t>
            </a:r>
            <a:r>
              <a:rPr sz="2400" dirty="0"/>
              <a:t> 1:</a:t>
            </a:r>
            <a:br>
              <a:rPr sz="2400" dirty="0"/>
            </a:br>
            <a:r>
              <a:rPr sz="2400" dirty="0" err="1"/>
              <a:t>Abarbeiten</a:t>
            </a:r>
            <a:r>
              <a:rPr sz="2400" dirty="0"/>
              <a:t> auf </a:t>
            </a:r>
            <a:r>
              <a:rPr sz="2400" dirty="0" err="1"/>
              <a:t>Zuruf</a:t>
            </a:r>
            <a:endParaRPr sz="2400"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00B050"/>
                </a:solidFill>
              </a:rPr>
              <a:t>✓ </a:t>
            </a:r>
            <a:r>
              <a:rPr sz="2000" dirty="0" err="1">
                <a:solidFill>
                  <a:srgbClr val="00B050"/>
                </a:solidFill>
              </a:rPr>
              <a:t>Sofortige</a:t>
            </a:r>
            <a:r>
              <a:rPr sz="2000" dirty="0">
                <a:solidFill>
                  <a:srgbClr val="00B050"/>
                </a:solidFill>
              </a:rPr>
              <a:t> </a:t>
            </a:r>
            <a:r>
              <a:rPr sz="2000" dirty="0" err="1">
                <a:solidFill>
                  <a:srgbClr val="00B050"/>
                </a:solidFill>
              </a:rPr>
              <a:t>Einplanung</a:t>
            </a:r>
            <a:endParaRPr sz="2000" dirty="0">
              <a:solidFill>
                <a:srgbClr val="00B050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00B050"/>
                </a:solidFill>
              </a:rPr>
              <a:t>✓ FIFO-</a:t>
            </a:r>
            <a:r>
              <a:rPr sz="2000" dirty="0" err="1">
                <a:solidFill>
                  <a:srgbClr val="00B050"/>
                </a:solidFill>
              </a:rPr>
              <a:t>Prinzip</a:t>
            </a:r>
            <a:endParaRPr sz="2000" dirty="0">
              <a:solidFill>
                <a:srgbClr val="00B050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00B050"/>
                </a:solidFill>
              </a:rPr>
              <a:t>✓ Keine </a:t>
            </a:r>
            <a:r>
              <a:rPr sz="2000" dirty="0" err="1">
                <a:solidFill>
                  <a:srgbClr val="00B050"/>
                </a:solidFill>
              </a:rPr>
              <a:t>Priorisierung</a:t>
            </a:r>
            <a:endParaRPr sz="2000" dirty="0">
              <a:solidFill>
                <a:srgbClr val="00B050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endParaRPr sz="2000"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C00000"/>
                </a:solidFill>
              </a:rPr>
              <a:t>✗ </a:t>
            </a:r>
            <a:r>
              <a:rPr lang="de-DE" sz="2000" dirty="0">
                <a:solidFill>
                  <a:srgbClr val="C00000"/>
                </a:solidFill>
              </a:rPr>
              <a:t>wachsende/ große Warteschlangen</a:t>
            </a:r>
            <a:endParaRPr sz="2000" dirty="0">
              <a:solidFill>
                <a:srgbClr val="C00000"/>
              </a:solidFill>
            </a:endParaRP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sz="2000" dirty="0">
                <a:solidFill>
                  <a:srgbClr val="C00000"/>
                </a:solidFill>
              </a:rPr>
              <a:t>✗ </a:t>
            </a:r>
            <a:r>
              <a:rPr sz="2000" dirty="0" err="1">
                <a:solidFill>
                  <a:srgbClr val="C00000"/>
                </a:solidFill>
              </a:rPr>
              <a:t>Instabilität</a:t>
            </a:r>
            <a:r>
              <a:rPr sz="2000" dirty="0">
                <a:solidFill>
                  <a:srgbClr val="C00000"/>
                </a:solidFill>
              </a:rPr>
              <a:t> </a:t>
            </a:r>
            <a:r>
              <a:rPr sz="2000" dirty="0" err="1">
                <a:solidFill>
                  <a:srgbClr val="C00000"/>
                </a:solidFill>
              </a:rPr>
              <a:t>bei</a:t>
            </a:r>
            <a:r>
              <a:rPr sz="2000" dirty="0">
                <a:solidFill>
                  <a:srgbClr val="C00000"/>
                </a:solidFill>
              </a:rPr>
              <a:t> </a:t>
            </a:r>
            <a:r>
              <a:rPr sz="2000" dirty="0" err="1">
                <a:solidFill>
                  <a:srgbClr val="C00000"/>
                </a:solidFill>
              </a:rPr>
              <a:t>hoher</a:t>
            </a:r>
            <a:r>
              <a:rPr sz="2000" dirty="0">
                <a:solidFill>
                  <a:srgbClr val="C00000"/>
                </a:solidFill>
              </a:rPr>
              <a:t> Last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02336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000" b="1">
                <a:solidFill>
                  <a:srgbClr val="00788C"/>
                </a:solidFill>
              </a:defRPr>
            </a:pPr>
            <a:r>
              <a:rPr sz="2400" dirty="0" err="1"/>
              <a:t>Szenario</a:t>
            </a:r>
            <a:r>
              <a:rPr sz="2400" dirty="0"/>
              <a:t> 2:</a:t>
            </a:r>
            <a:br>
              <a:rPr sz="2400" dirty="0"/>
            </a:br>
            <a:r>
              <a:rPr sz="2400" dirty="0" err="1"/>
              <a:t>Sprintplanung</a:t>
            </a:r>
            <a:endParaRPr sz="2400"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lang="de-DE" sz="2000" dirty="0">
                <a:solidFill>
                  <a:srgbClr val="00B050"/>
                </a:solidFill>
              </a:rPr>
              <a:t>✓ Tasks sammeln &amp; priorisieren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lang="de-DE" sz="2000" dirty="0">
                <a:solidFill>
                  <a:srgbClr val="00B050"/>
                </a:solidFill>
              </a:rPr>
              <a:t>✓ Fixe Zeitfenster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lang="de-DE" sz="2000" dirty="0">
                <a:solidFill>
                  <a:srgbClr val="00B050"/>
                </a:solidFill>
              </a:rPr>
              <a:t>✓ Stabilere Planung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endParaRPr lang="de-DE" sz="2000" dirty="0"/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lang="de-DE" sz="2000" dirty="0">
                <a:solidFill>
                  <a:srgbClr val="C00000"/>
                </a:solidFill>
              </a:rPr>
              <a:t>✗ Nicht alle Tasks werden bearbeitet</a:t>
            </a:r>
          </a:p>
          <a:p>
            <a:pPr>
              <a:spcBef>
                <a:spcPts val="600"/>
              </a:spcBef>
              <a:defRPr sz="1500">
                <a:solidFill>
                  <a:srgbClr val="FFFFFF"/>
                </a:solidFill>
              </a:defRPr>
            </a:pPr>
            <a:r>
              <a:rPr lang="de-DE" sz="2000" b="1" dirty="0">
                <a:solidFill>
                  <a:srgbClr val="C00000"/>
                </a:solidFill>
              </a:rPr>
              <a:t>✗ Tasks werden verworfen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A319CDC-03B2-8472-7D71-95C2CC125FE0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75521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8C"/>
                </a:solidFill>
              </a:defRPr>
            </a:pPr>
            <a:r>
              <a:rPr dirty="0" err="1"/>
              <a:t>Zentrale</a:t>
            </a:r>
            <a:r>
              <a:rPr dirty="0"/>
              <a:t> </a:t>
            </a:r>
            <a:r>
              <a:rPr lang="de-DE" dirty="0"/>
              <a:t>Simulationsfragen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446601"/>
            <a:ext cx="805288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/>
              <a:t>1. Bei </a:t>
            </a:r>
            <a:r>
              <a:rPr sz="2000" dirty="0" err="1"/>
              <a:t>welchem</a:t>
            </a:r>
            <a:r>
              <a:rPr sz="2000" dirty="0"/>
              <a:t> </a:t>
            </a:r>
            <a:r>
              <a:rPr sz="2000" dirty="0" err="1"/>
              <a:t>Verhältnis</a:t>
            </a:r>
            <a:r>
              <a:rPr sz="2000" dirty="0"/>
              <a:t> </a:t>
            </a:r>
            <a:r>
              <a:rPr lang="el-GR" sz="2000" dirty="0"/>
              <a:t>α </a:t>
            </a:r>
            <a:r>
              <a:rPr sz="2000" dirty="0"/>
              <a:t>/</a:t>
            </a:r>
            <a:r>
              <a:rPr lang="el-GR" sz="2000" dirty="0"/>
              <a:t>β</a:t>
            </a:r>
            <a:r>
              <a:rPr sz="2000" dirty="0"/>
              <a:t> </a:t>
            </a:r>
            <a:r>
              <a:rPr sz="2000" dirty="0" err="1"/>
              <a:t>lohnt</a:t>
            </a:r>
            <a:r>
              <a:rPr sz="2000" dirty="0"/>
              <a:t> </a:t>
            </a:r>
            <a:r>
              <a:rPr sz="2000" dirty="0" err="1"/>
              <a:t>sich</a:t>
            </a:r>
            <a:r>
              <a:rPr sz="2000" dirty="0"/>
              <a:t> der </a:t>
            </a:r>
            <a:r>
              <a:rPr sz="2000" dirty="0" err="1"/>
              <a:t>Umstieg</a:t>
            </a:r>
            <a:r>
              <a:rPr sz="2000" dirty="0"/>
              <a:t> auf </a:t>
            </a:r>
            <a:r>
              <a:rPr sz="2000" dirty="0" err="1"/>
              <a:t>Sprintplanung</a:t>
            </a:r>
            <a:r>
              <a:rPr sz="2000" dirty="0"/>
              <a:t>?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 sz="2000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/>
              <a:t>2. Wie </a:t>
            </a:r>
            <a:r>
              <a:rPr sz="2000" dirty="0" err="1"/>
              <a:t>verändert</a:t>
            </a:r>
            <a:r>
              <a:rPr sz="2000" dirty="0"/>
              <a:t> </a:t>
            </a:r>
            <a:r>
              <a:rPr sz="2000" dirty="0" err="1"/>
              <a:t>sich</a:t>
            </a:r>
            <a:r>
              <a:rPr sz="2000" dirty="0"/>
              <a:t> die Performance </a:t>
            </a:r>
            <a:r>
              <a:rPr sz="2000" dirty="0" err="1"/>
              <a:t>bei</a:t>
            </a:r>
            <a:r>
              <a:rPr sz="2000" dirty="0"/>
              <a:t> </a:t>
            </a:r>
            <a:r>
              <a:rPr sz="2000" dirty="0" err="1"/>
              <a:t>verschiedenen</a:t>
            </a:r>
            <a:r>
              <a:rPr sz="2000" dirty="0"/>
              <a:t> </a:t>
            </a:r>
            <a:r>
              <a:rPr sz="2000" dirty="0" err="1"/>
              <a:t>Sprintintervallen</a:t>
            </a:r>
            <a:r>
              <a:rPr sz="2000" dirty="0"/>
              <a:t>?</a:t>
            </a:r>
            <a:r>
              <a:rPr lang="de-DE" sz="2000" dirty="0"/>
              <a:t> </a:t>
            </a:r>
            <a:r>
              <a:rPr sz="2000" dirty="0"/>
              <a:t>(T = 1, </a:t>
            </a:r>
            <a:r>
              <a:rPr sz="2000" b="1" dirty="0"/>
              <a:t>2</a:t>
            </a:r>
            <a:r>
              <a:rPr sz="2000" dirty="0"/>
              <a:t>, 4 </a:t>
            </a:r>
            <a:r>
              <a:rPr sz="2000" dirty="0" err="1"/>
              <a:t>Wochen</a:t>
            </a:r>
            <a:r>
              <a:rPr sz="2000" dirty="0"/>
              <a:t>)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 sz="2000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/>
              <a:t>3. Trade-off: </a:t>
            </a:r>
            <a:r>
              <a:rPr sz="2000" dirty="0" err="1"/>
              <a:t>Stabilität</a:t>
            </a:r>
            <a:r>
              <a:rPr sz="2000" dirty="0"/>
              <a:t> vs. </a:t>
            </a:r>
            <a:r>
              <a:rPr sz="2000" dirty="0" err="1"/>
              <a:t>wegpriorisierte</a:t>
            </a:r>
            <a:r>
              <a:rPr sz="2000" dirty="0"/>
              <a:t> Tasks?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 sz="2000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lang="de-DE" sz="2000" dirty="0">
                <a:sym typeface="Wingdings" panose="05000000000000000000" pitchFamily="2" charset="2"/>
              </a:rPr>
              <a:t></a:t>
            </a:r>
            <a:r>
              <a:rPr sz="2000" dirty="0"/>
              <a:t> </a:t>
            </a:r>
            <a:r>
              <a:rPr sz="2000" dirty="0" err="1"/>
              <a:t>Welche</a:t>
            </a:r>
            <a:r>
              <a:rPr sz="2000" dirty="0"/>
              <a:t> </a:t>
            </a:r>
            <a:r>
              <a:rPr sz="2000" dirty="0" err="1"/>
              <a:t>Priorisierungsstrategie</a:t>
            </a:r>
            <a:r>
              <a:rPr sz="2000" dirty="0"/>
              <a:t> </a:t>
            </a:r>
            <a:r>
              <a:rPr sz="2000" dirty="0" err="1"/>
              <a:t>ist</a:t>
            </a:r>
            <a:r>
              <a:rPr sz="2000" dirty="0"/>
              <a:t> </a:t>
            </a:r>
            <a:r>
              <a:rPr lang="de-DE" sz="2000" dirty="0"/>
              <a:t>in welchen Fällen besser geeignet</a:t>
            </a:r>
            <a:r>
              <a:rPr sz="2000" dirty="0"/>
              <a:t>?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89361B4-ECC2-D7D6-986A-2DB6606AA609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73313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788C"/>
                </a:solidFill>
              </a:defRPr>
            </a:pPr>
            <a:r>
              <a:rPr dirty="0"/>
              <a:t>Modellierungsansatz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8930"/>
            <a:ext cx="77724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 err="1"/>
              <a:t>Diskrete</a:t>
            </a:r>
            <a:r>
              <a:rPr sz="2000" dirty="0"/>
              <a:t>, </a:t>
            </a:r>
            <a:r>
              <a:rPr sz="2000" dirty="0" err="1"/>
              <a:t>ereignisorientierte</a:t>
            </a:r>
            <a:r>
              <a:rPr sz="2000" dirty="0"/>
              <a:t> Simulation</a:t>
            </a:r>
            <a:r>
              <a:rPr lang="de-DE" sz="2000" dirty="0"/>
              <a:t> 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endParaRPr sz="2000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sz="2000" dirty="0" err="1"/>
              <a:t>Grundannahmen</a:t>
            </a:r>
            <a:r>
              <a:rPr sz="2000" dirty="0"/>
              <a:t>: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K1: </a:t>
            </a:r>
            <a:r>
              <a:rPr sz="2000" dirty="0" err="1"/>
              <a:t>Ankünfte</a:t>
            </a:r>
            <a:r>
              <a:rPr sz="2000" dirty="0"/>
              <a:t>: Poisson-</a:t>
            </a:r>
            <a:r>
              <a:rPr sz="2000" dirty="0" err="1"/>
              <a:t>Prozess</a:t>
            </a:r>
            <a:r>
              <a:rPr sz="2000" dirty="0"/>
              <a:t> </a:t>
            </a:r>
            <a:r>
              <a:rPr sz="2000" dirty="0" err="1"/>
              <a:t>mit</a:t>
            </a:r>
            <a:r>
              <a:rPr sz="2000" dirty="0"/>
              <a:t> Rate </a:t>
            </a:r>
            <a:r>
              <a:rPr lang="el-GR" sz="2000" dirty="0"/>
              <a:t>α</a:t>
            </a:r>
            <a:br>
              <a:rPr lang="de-DE" sz="2000" dirty="0"/>
            </a:br>
            <a:r>
              <a:rPr sz="2000" dirty="0" err="1"/>
              <a:t>Zwischenankunftszeiten</a:t>
            </a:r>
            <a:r>
              <a:rPr sz="2000" dirty="0"/>
              <a:t>: </a:t>
            </a:r>
            <a:r>
              <a:rPr lang="de-DE" sz="2000" dirty="0"/>
              <a:t>e</a:t>
            </a:r>
            <a:r>
              <a:rPr sz="2000" dirty="0" err="1"/>
              <a:t>xponentialverteilt</a:t>
            </a:r>
            <a:r>
              <a:rPr sz="2000" dirty="0"/>
              <a:t> E(</a:t>
            </a:r>
            <a:r>
              <a:rPr lang="el-GR" sz="2000" dirty="0"/>
              <a:t>α</a:t>
            </a:r>
            <a:r>
              <a:rPr sz="2000" dirty="0"/>
              <a:t>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K2: </a:t>
            </a:r>
            <a:r>
              <a:rPr sz="2000" dirty="0" err="1"/>
              <a:t>Bearbeitungszeiten</a:t>
            </a:r>
            <a:r>
              <a:rPr sz="2000" dirty="0"/>
              <a:t>: </a:t>
            </a:r>
            <a:r>
              <a:rPr lang="de-DE" sz="2000" dirty="0"/>
              <a:t>e</a:t>
            </a:r>
            <a:r>
              <a:rPr sz="2000" dirty="0" err="1"/>
              <a:t>xponentialverteilt</a:t>
            </a:r>
            <a:r>
              <a:rPr sz="2000" dirty="0"/>
              <a:t> E(</a:t>
            </a:r>
            <a:r>
              <a:rPr lang="el-GR" sz="2000" dirty="0"/>
              <a:t>β</a:t>
            </a:r>
            <a:r>
              <a:rPr sz="2000" dirty="0"/>
              <a:t>)</a:t>
            </a:r>
            <a:endParaRPr lang="de-DE" sz="2000" dirty="0"/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K3: </a:t>
            </a:r>
            <a:r>
              <a:rPr lang="de-DE" sz="2000" dirty="0"/>
              <a:t>Ein Kanal (ein Team / eine Ressource)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K4: </a:t>
            </a:r>
            <a:r>
              <a:rPr lang="de-DE" sz="2000" dirty="0"/>
              <a:t>Größe des Warteraums: ∞, aber:</a:t>
            </a:r>
            <a:r>
              <a:rPr lang="de-DE" sz="2000" b="1" dirty="0"/>
              <a:t> Szenario 2: Aussortieren von Tasks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K5: Szenario 1: FIFO – Szenario 2: Zeitscheiben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pPr>
            <a:endParaRPr lang="de-DE" sz="2000" b="1" dirty="0"/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rPr lang="de-DE" sz="2000" b="1" dirty="0"/>
              <a:t>Einfache Priorisierung über Zufallswahl ohne Optimierungslogik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7B91D5D-61D3-B0C7-2702-D8C947C9B682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8C"/>
                </a:solidFill>
              </a:defRPr>
            </a:pPr>
            <a:r>
              <a:t>Szenario 1: 'Abarbeiten auf Zuruf' – Modell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1520" y="1463040"/>
                <a:ext cx="7772400" cy="36838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800"/>
                  </a:spcBef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b="1" dirty="0"/>
                  <a:t>A</a:t>
                </a:r>
                <a:r>
                  <a:rPr lang="de-DE" sz="2000" b="1" dirty="0" err="1"/>
                  <a:t>blauf</a:t>
                </a:r>
                <a:r>
                  <a:rPr lang="de-DE" sz="2000" b="1" dirty="0"/>
                  <a:t>:</a:t>
                </a:r>
              </a:p>
              <a:p>
                <a:pPr marL="285750" indent="-28575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Tasks </a:t>
                </a:r>
                <a:r>
                  <a:rPr lang="de-DE" sz="2000" dirty="0" err="1"/>
                  <a:t>kommen</a:t>
                </a:r>
                <a:r>
                  <a:rPr lang="de-DE" sz="2000" dirty="0"/>
                  <a:t> </a:t>
                </a:r>
                <a:r>
                  <a:rPr lang="de-DE" sz="2000" dirty="0" err="1"/>
                  <a:t>kontinuierlich</a:t>
                </a:r>
                <a:r>
                  <a:rPr lang="de-DE" sz="2000" dirty="0"/>
                  <a:t> an (Poisson-</a:t>
                </a:r>
                <a:r>
                  <a:rPr lang="de-DE" sz="2000" dirty="0" err="1"/>
                  <a:t>Prozess</a:t>
                </a:r>
                <a:r>
                  <a:rPr lang="de-DE" sz="2000" dirty="0"/>
                  <a:t>)</a:t>
                </a:r>
              </a:p>
              <a:p>
                <a:pPr marL="285750" indent="-28575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</a:t>
                </a:r>
                <a:r>
                  <a:rPr lang="de-DE" sz="2000" dirty="0" err="1"/>
                  <a:t>Sofortige</a:t>
                </a:r>
                <a:r>
                  <a:rPr lang="de-DE" sz="2000" dirty="0"/>
                  <a:t> </a:t>
                </a:r>
                <a:r>
                  <a:rPr lang="de-DE" sz="2000" dirty="0" err="1"/>
                  <a:t>Einreihung</a:t>
                </a:r>
                <a:r>
                  <a:rPr lang="de-DE" sz="2000" dirty="0"/>
                  <a:t> in die </a:t>
                </a:r>
                <a:r>
                  <a:rPr lang="de-DE" sz="2000" dirty="0" err="1"/>
                  <a:t>Warteschlange</a:t>
                </a:r>
                <a:endParaRPr lang="de-DE" sz="2000" dirty="0"/>
              </a:p>
              <a:p>
                <a:pPr marL="285750" indent="-28575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</a:t>
                </a:r>
                <a:r>
                  <a:rPr lang="de-DE" sz="2000" dirty="0" err="1"/>
                  <a:t>Bearbeitung</a:t>
                </a:r>
                <a:r>
                  <a:rPr lang="de-DE" sz="2000" dirty="0"/>
                  <a:t> </a:t>
                </a:r>
                <a:r>
                  <a:rPr lang="de-DE" sz="2000" dirty="0" err="1"/>
                  <a:t>nach</a:t>
                </a:r>
                <a:r>
                  <a:rPr lang="de-DE" sz="2000" dirty="0"/>
                  <a:t> FIFO-</a:t>
                </a:r>
                <a:r>
                  <a:rPr lang="de-DE" sz="2000" dirty="0" err="1"/>
                  <a:t>Prinzip</a:t>
                </a:r>
                <a:endParaRPr lang="de-DE" sz="2000" dirty="0"/>
              </a:p>
              <a:p>
                <a:pPr>
                  <a:spcBef>
                    <a:spcPts val="800"/>
                  </a:spcBef>
                  <a:defRPr sz="1600">
                    <a:solidFill>
                      <a:srgbClr val="FFFFFF"/>
                    </a:solidFill>
                  </a:defRPr>
                </a:pPr>
                <a:endParaRPr lang="de-DE" sz="2000" dirty="0"/>
              </a:p>
              <a:p>
                <a:pPr>
                  <a:spcBef>
                    <a:spcPts val="800"/>
                  </a:spcBef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b="1" dirty="0"/>
                  <a:t>Output-Metriken (mit Konfidenzintervallen):</a:t>
                </a:r>
              </a:p>
              <a:p>
                <a:pPr marL="342900" indent="-34290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Auslastungsgrad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000" i="1" dirty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</m:oMath>
                </a14:m>
                <a:endParaRPr lang="de-DE" sz="2000" dirty="0"/>
              </a:p>
              <a:p>
                <a:pPr marL="342900" indent="-34290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Mittlere Wartezeit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000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acc>
                  </m:oMath>
                </a14:m>
                <a:endParaRPr lang="de-DE" sz="2000" dirty="0"/>
              </a:p>
              <a:p>
                <a:pPr marL="342900" indent="-342900">
                  <a:spcBef>
                    <a:spcPts val="800"/>
                  </a:spcBef>
                  <a:buFont typeface="Arial" panose="020B0604020202020204" pitchFamily="34" charset="0"/>
                  <a:buChar char="•"/>
                  <a:defRPr sz="1600">
                    <a:solidFill>
                      <a:srgbClr val="FFFFFF"/>
                    </a:solidFill>
                  </a:defRPr>
                </a:pPr>
                <a:r>
                  <a:rPr lang="de-DE" sz="2000" dirty="0"/>
                  <a:t>  Mittlere Schlangenlänge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DE" sz="2000" i="1" dirty="0">
                            <a:latin typeface="Cambria Math" panose="02040503050406030204" pitchFamily="18" charset="0"/>
                          </a:rPr>
                          <m:t>𝜁</m:t>
                        </m:r>
                      </m:e>
                    </m:acc>
                  </m:oMath>
                </a14:m>
                <a:endParaRPr lang="de-DE" sz="20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463040"/>
                <a:ext cx="7772400" cy="3683894"/>
              </a:xfrm>
              <a:prstGeom prst="rect">
                <a:avLst/>
              </a:prstGeom>
              <a:blipFill>
                <a:blip r:embed="rId2"/>
                <a:stretch>
                  <a:fillRect l="-784" t="-828" b="-21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4">
            <a:extLst>
              <a:ext uri="{FF2B5EF4-FFF2-40B4-BE49-F238E27FC236}">
                <a16:creationId xmlns:a16="http://schemas.microsoft.com/office/drawing/2014/main" id="{AAAF7F64-68F6-E5F0-72EA-5663C986879C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788C"/>
                </a:solidFill>
              </a:defRPr>
            </a:pPr>
            <a:r>
              <a:t>Szenario 2: 'Sprintplanung' –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7724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rPr sz="2000" b="1" dirty="0" err="1"/>
              <a:t>Ablauf</a:t>
            </a:r>
            <a:r>
              <a:rPr sz="2000" b="1" dirty="0"/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2000" dirty="0"/>
              <a:t>  </a:t>
            </a:r>
            <a:r>
              <a:rPr sz="2000" dirty="0" err="1"/>
              <a:t>Planungsintervall</a:t>
            </a:r>
            <a:r>
              <a:rPr sz="2000" dirty="0"/>
              <a:t> T (</a:t>
            </a:r>
            <a:r>
              <a:rPr sz="2000" dirty="0" err="1"/>
              <a:t>z.B.</a:t>
            </a:r>
            <a:r>
              <a:rPr sz="2000" dirty="0"/>
              <a:t> 1, 2, 4 </a:t>
            </a:r>
            <a:r>
              <a:rPr sz="2000" dirty="0" err="1"/>
              <a:t>Wochen</a:t>
            </a:r>
            <a:r>
              <a:rPr sz="2000" dirty="0"/>
              <a:t>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2000" dirty="0"/>
              <a:t>  Tasks </a:t>
            </a:r>
            <a:r>
              <a:rPr sz="2000" dirty="0" err="1"/>
              <a:t>werden</a:t>
            </a:r>
            <a:r>
              <a:rPr sz="2000" dirty="0"/>
              <a:t> </a:t>
            </a:r>
            <a:r>
              <a:rPr sz="2000" dirty="0" err="1"/>
              <a:t>während</a:t>
            </a:r>
            <a:r>
              <a:rPr sz="2000" dirty="0"/>
              <a:t> T in </a:t>
            </a:r>
            <a:r>
              <a:rPr lang="de-DE" sz="2000" dirty="0"/>
              <a:t>einem </a:t>
            </a:r>
            <a:r>
              <a:rPr sz="2000" dirty="0"/>
              <a:t>Puffer </a:t>
            </a:r>
            <a:r>
              <a:rPr sz="2000" dirty="0" err="1"/>
              <a:t>gesammelt</a:t>
            </a:r>
            <a:endParaRPr sz="2000" dirty="0"/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2000" dirty="0"/>
              <a:t>  Am </a:t>
            </a:r>
            <a:r>
              <a:rPr sz="2000" dirty="0" err="1"/>
              <a:t>Sprintstart</a:t>
            </a:r>
            <a:r>
              <a:rPr sz="2000" dirty="0"/>
              <a:t>: </a:t>
            </a:r>
            <a:endParaRPr lang="de-DE" sz="2000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2000" dirty="0" err="1"/>
              <a:t>Priorisierung</a:t>
            </a:r>
            <a:r>
              <a:rPr lang="de-DE" sz="2000" dirty="0"/>
              <a:t>, zufällige Auswahl bis zum Arbeitsbudget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sz="2000" dirty="0"/>
              <a:t>Nur </a:t>
            </a:r>
            <a:r>
              <a:rPr sz="2000" dirty="0" err="1"/>
              <a:t>ausgewählte</a:t>
            </a:r>
            <a:r>
              <a:rPr sz="2000" dirty="0"/>
              <a:t> Tasks </a:t>
            </a:r>
            <a:r>
              <a:rPr sz="2000" dirty="0" err="1"/>
              <a:t>fließen</a:t>
            </a:r>
            <a:r>
              <a:rPr sz="2000" dirty="0"/>
              <a:t> in Sprint</a:t>
            </a:r>
            <a:endParaRPr lang="de-DE" sz="2000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solidFill>
                  <a:srgbClr val="FFFFFF"/>
                </a:solidFill>
              </a:defRPr>
            </a:pPr>
            <a:r>
              <a:rPr lang="de-DE" sz="2000" dirty="0"/>
              <a:t>Der R</a:t>
            </a:r>
            <a:r>
              <a:rPr sz="2000" dirty="0" err="1"/>
              <a:t>est</a:t>
            </a:r>
            <a:r>
              <a:rPr sz="2000" dirty="0"/>
              <a:t> </a:t>
            </a:r>
            <a:r>
              <a:rPr sz="2000" dirty="0" err="1"/>
              <a:t>wird</a:t>
            </a:r>
            <a:r>
              <a:rPr sz="2000" dirty="0"/>
              <a:t> </a:t>
            </a:r>
            <a:r>
              <a:rPr sz="2000" dirty="0" err="1"/>
              <a:t>verworfen</a:t>
            </a:r>
            <a:endParaRPr sz="2000" dirty="0"/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600"/>
              </a:spcBef>
              <a:defRPr sz="1400">
                <a:solidFill>
                  <a:srgbClr val="FFFFFF"/>
                </a:solidFill>
              </a:defRPr>
            </a:pPr>
            <a:r>
              <a:rPr sz="2000" b="1" dirty="0" err="1"/>
              <a:t>Zusätzliche</a:t>
            </a:r>
            <a:r>
              <a:rPr sz="2000" b="1" dirty="0"/>
              <a:t> </a:t>
            </a:r>
            <a:r>
              <a:rPr lang="de-DE" sz="2000" b="1" dirty="0"/>
              <a:t>Output-Metrik</a:t>
            </a:r>
            <a:r>
              <a:rPr sz="2000" b="1" dirty="0"/>
              <a:t>:</a:t>
            </a:r>
            <a:r>
              <a:rPr lang="de-DE" sz="2000" b="1" dirty="0"/>
              <a:t>  </a:t>
            </a:r>
            <a:r>
              <a:rPr sz="2000" dirty="0" err="1"/>
              <a:t>Anzahl</a:t>
            </a:r>
            <a:r>
              <a:rPr sz="2000" dirty="0"/>
              <a:t> </a:t>
            </a:r>
            <a:r>
              <a:rPr sz="2000" dirty="0" err="1"/>
              <a:t>nicht</a:t>
            </a:r>
            <a:r>
              <a:rPr sz="2000" dirty="0"/>
              <a:t> </a:t>
            </a:r>
            <a:r>
              <a:rPr sz="2000" dirty="0" err="1"/>
              <a:t>bearbeiteter</a:t>
            </a:r>
            <a:r>
              <a:rPr sz="2000" dirty="0"/>
              <a:t> Tasks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BBE7640B-0BE9-D231-EC20-1249811CF348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3094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788C"/>
                </a:solidFill>
              </a:defRPr>
            </a:pPr>
            <a:r>
              <a:rPr lang="de-DE" dirty="0"/>
              <a:t>Nächste Schritte</a:t>
            </a:r>
            <a:endParaRPr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EBEF22FA-DDB7-FF68-C834-2D66EDEB2375}"/>
              </a:ext>
            </a:extLst>
          </p:cNvPr>
          <p:cNvSpPr txBox="1"/>
          <p:nvPr/>
        </p:nvSpPr>
        <p:spPr>
          <a:xfrm>
            <a:off x="320040" y="6446520"/>
            <a:ext cx="527933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CDCDC"/>
                </a:solidFill>
              </a:defRPr>
            </a:pPr>
            <a:r>
              <a:rPr sz="1200" dirty="0"/>
              <a:t> Florian Particke | </a:t>
            </a:r>
            <a:r>
              <a:rPr sz="1200" dirty="0" err="1"/>
              <a:t>Planen</a:t>
            </a:r>
            <a:r>
              <a:rPr sz="1200" dirty="0"/>
              <a:t> </a:t>
            </a:r>
            <a:r>
              <a:rPr sz="1200" dirty="0" err="1"/>
              <a:t>mit</a:t>
            </a:r>
            <a:r>
              <a:rPr sz="1200" dirty="0"/>
              <a:t> </a:t>
            </a:r>
            <a:r>
              <a:rPr sz="1200" dirty="0" err="1"/>
              <a:t>mathematische</a:t>
            </a:r>
            <a:r>
              <a:rPr sz="1200" dirty="0"/>
              <a:t> </a:t>
            </a:r>
            <a:r>
              <a:rPr sz="1200" dirty="0" err="1"/>
              <a:t>Modellen</a:t>
            </a:r>
            <a:r>
              <a:rPr sz="1200" dirty="0"/>
              <a:t> - Simulation | 2025-12-10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ABD824CA-D357-86C3-976F-2695A7F61529}"/>
              </a:ext>
            </a:extLst>
          </p:cNvPr>
          <p:cNvSpPr txBox="1"/>
          <p:nvPr/>
        </p:nvSpPr>
        <p:spPr>
          <a:xfrm>
            <a:off x="731520" y="1463040"/>
            <a:ext cx="777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Implementierung der Simulation in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Parametervariationen (</a:t>
            </a:r>
            <a:r>
              <a:rPr lang="el-GR" sz="2000" dirty="0">
                <a:solidFill>
                  <a:schemeClr val="bg1"/>
                </a:solidFill>
              </a:rPr>
              <a:t>α /β </a:t>
            </a:r>
            <a:r>
              <a:rPr lang="de-DE" sz="2000" dirty="0">
                <a:solidFill>
                  <a:schemeClr val="bg1"/>
                </a:solidFill>
              </a:rPr>
              <a:t>, 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Berechnung der Konfidenzintervalle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Visualisierung der Ergebnisse</a:t>
            </a:r>
          </a:p>
          <a:p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Ableitung der Handlungsempfehlungen</a:t>
            </a:r>
            <a:endParaRPr lang="de-DE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481</Words>
  <Application>Microsoft Office PowerPoint</Application>
  <PresentationFormat>Bildschirmpräsentation (4:3)</PresentationFormat>
  <Paragraphs>84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 Math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Particke, Florian (SMO RS LMC EN CCI CDI CI)</cp:lastModifiedBy>
  <cp:revision>6</cp:revision>
  <dcterms:created xsi:type="dcterms:W3CDTF">2013-01-27T09:14:16Z</dcterms:created>
  <dcterms:modified xsi:type="dcterms:W3CDTF">2025-12-06T12:18:53Z</dcterms:modified>
  <cp:category/>
</cp:coreProperties>
</file>